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6" r:id="rId8"/>
    <p:sldId id="264" r:id="rId9"/>
    <p:sldId id="265" r:id="rId10"/>
    <p:sldId id="267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9171-911F-4BFE-95A8-86054003F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3C4043"/>
                </a:solidFill>
                <a:effectLst/>
                <a:latin typeface="Algerian" panose="04020705040A02060702" pitchFamily="82" charset="0"/>
              </a:rPr>
              <a:t>Financial (Expense) Management Application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C1C3A-76EC-43AA-9F65-1D5313C1B8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Bahnschrift SemiBold" panose="020B0502040204020203" pitchFamily="34" charset="0"/>
              </a:rPr>
              <a:t>“Beware of little expenses!!!!!!</a:t>
            </a:r>
          </a:p>
          <a:p>
            <a:r>
              <a:rPr lang="en-IN" dirty="0">
                <a:latin typeface="Bahnschrift SemiBold" panose="020B0502040204020203" pitchFamily="34" charset="0"/>
              </a:rPr>
              <a:t>A small leak will sink a ship”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98B36-1D39-46F8-9C24-38A8EA4B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338" y="3672996"/>
            <a:ext cx="4889195" cy="2046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2676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809D-CBDB-4E60-8A6B-EC16C3A17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01523"/>
            <a:ext cx="9603275" cy="1049235"/>
          </a:xfrm>
        </p:spPr>
        <p:txBody>
          <a:bodyPr/>
          <a:lstStyle/>
          <a:p>
            <a:r>
              <a:rPr lang="en-IN" dirty="0"/>
              <a:t>Why do we need to manage our finance expenses?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35B0-FD13-4DC5-A872-68E733766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91550" cy="3972692"/>
          </a:xfrm>
        </p:spPr>
        <p:txBody>
          <a:bodyPr>
            <a:normAutofit/>
          </a:bodyPr>
          <a:lstStyle/>
          <a:p>
            <a:r>
              <a:rPr lang="en-US" b="1" i="0" dirty="0">
                <a:effectLst/>
                <a:latin typeface="Google Sans"/>
              </a:rPr>
              <a:t>1. Achieve Financial Stability </a:t>
            </a:r>
            <a:r>
              <a:rPr lang="en-US" b="1" dirty="0">
                <a:latin typeface="Google Sans"/>
              </a:rPr>
              <a:t>&amp; Goals</a:t>
            </a:r>
            <a:endParaRPr lang="en-US" b="1" i="0" dirty="0">
              <a:effectLst/>
              <a:latin typeface="Google Sans"/>
            </a:endParaRPr>
          </a:p>
          <a:p>
            <a:pPr marL="0" indent="0">
              <a:buNone/>
            </a:pPr>
            <a:r>
              <a:rPr lang="en-IN" dirty="0"/>
              <a:t>Live within your means:</a:t>
            </a:r>
          </a:p>
          <a:p>
            <a:pPr marL="0" indent="0">
              <a:buNone/>
            </a:pPr>
            <a:r>
              <a:rPr lang="en-US" dirty="0"/>
              <a:t>Managing expenses helps you understand your income and spending, ensuring you</a:t>
            </a:r>
            <a:r>
              <a:rPr lang="en-IN" dirty="0"/>
              <a:t> </a:t>
            </a:r>
            <a:r>
              <a:rPr lang="en-US" dirty="0"/>
              <a:t>don't spend more than you earn. 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Reach financial goals:</a:t>
            </a:r>
          </a:p>
          <a:p>
            <a:pPr marL="0" indent="0">
              <a:buNone/>
            </a:pPr>
            <a:r>
              <a:rPr lang="en-US" dirty="0"/>
              <a:t>Whether it's saving for a car, a home, or retirement, controlling your spending frees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up money to put towards these goals. </a:t>
            </a:r>
            <a:endParaRPr lang="en-IN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7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124238-0604-4F97-B6CD-B892781326F7}"/>
              </a:ext>
            </a:extLst>
          </p:cNvPr>
          <p:cNvSpPr txBox="1"/>
          <p:nvPr/>
        </p:nvSpPr>
        <p:spPr>
          <a:xfrm>
            <a:off x="896471" y="268506"/>
            <a:ext cx="99597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Google Sans"/>
              </a:rPr>
              <a:t>Build wealth:</a:t>
            </a:r>
          </a:p>
          <a:p>
            <a:r>
              <a:rPr lang="en-US" b="0" i="0" dirty="0">
                <a:effectLst/>
                <a:latin typeface="Google Sans"/>
              </a:rPr>
              <a:t>By consistently saving and investing money that would otherwise be spent on non-essentials, you can grow your wealth over time.</a:t>
            </a:r>
          </a:p>
          <a:p>
            <a:r>
              <a:rPr lang="en-US" b="1" dirty="0"/>
              <a:t>2. Build Security &amp; Reduce Stress </a:t>
            </a:r>
            <a:br>
              <a:rPr lang="en-IN" sz="2000" b="1" dirty="0"/>
            </a:br>
            <a:r>
              <a:rPr lang="en-IN" sz="1600" i="0" dirty="0">
                <a:effectLst/>
                <a:latin typeface="Google Sans"/>
              </a:rPr>
              <a:t>Create an emergency fund:</a:t>
            </a:r>
          </a:p>
          <a:p>
            <a:r>
              <a:rPr lang="en-US" b="0" i="0" dirty="0">
                <a:effectLst/>
                <a:latin typeface="Google Sans"/>
              </a:rPr>
              <a:t>A budget helps you set aside money for unexpected events like job loss, illness, or home repairs, providing peace of mind. </a:t>
            </a:r>
          </a:p>
          <a:p>
            <a:r>
              <a:rPr lang="en-IN" b="1" dirty="0"/>
              <a:t>3. Prevent Debt &amp; Overspending</a:t>
            </a:r>
            <a:endParaRPr lang="en-US" b="1" dirty="0">
              <a:latin typeface="Google Sans"/>
            </a:endParaRPr>
          </a:p>
          <a:p>
            <a:r>
              <a:rPr lang="en-US" b="1" i="0" dirty="0">
                <a:effectLst/>
                <a:latin typeface="Google Sans"/>
              </a:rPr>
              <a:t>Avoid unnecessary debt:</a:t>
            </a:r>
          </a:p>
          <a:p>
            <a:r>
              <a:rPr lang="en-US" b="0" i="0" dirty="0">
                <a:effectLst/>
                <a:latin typeface="Google Sans"/>
              </a:rPr>
              <a:t>By monitoring spending, you're less likely to make impulsive purchases or take on debt that you can't manage</a:t>
            </a:r>
            <a:r>
              <a:rPr lang="en-US" dirty="0">
                <a:latin typeface="Google Sans"/>
              </a:rPr>
              <a:t>.</a:t>
            </a:r>
          </a:p>
          <a:p>
            <a:r>
              <a:rPr lang="en-US" b="1" i="0" dirty="0">
                <a:effectLst/>
                <a:latin typeface="Google Sans"/>
              </a:rPr>
              <a:t>Manage existing debt :</a:t>
            </a:r>
            <a:r>
              <a:rPr lang="en-US" b="0" i="0" dirty="0">
                <a:effectLst/>
                <a:latin typeface="Google Sans"/>
              </a:rPr>
              <a:t>If you have debt, a budget helps you allocate funds to pay it off systematically. </a:t>
            </a:r>
          </a:p>
          <a:p>
            <a:r>
              <a:rPr lang="en-US" b="1" i="0" dirty="0">
                <a:effectLst/>
                <a:latin typeface="Google Sans"/>
              </a:rPr>
              <a:t>Discourage lifestyle inflation : </a:t>
            </a:r>
            <a:r>
              <a:rPr lang="en-US" b="0" i="0" dirty="0">
                <a:effectLst/>
                <a:latin typeface="Google Sans"/>
              </a:rPr>
              <a:t>Budgeting helps you resist the tendency to increase spending in proportion to rising income, directing more money toward savings instead. </a:t>
            </a:r>
          </a:p>
          <a:p>
            <a:r>
              <a:rPr lang="en-US" sz="2000" b="1" i="0" dirty="0">
                <a:effectLst/>
                <a:latin typeface="Google Sans"/>
              </a:rPr>
              <a:t>4. Cultivate Healthy Financial Habits</a:t>
            </a:r>
          </a:p>
          <a:p>
            <a:r>
              <a:rPr lang="en-US" b="1" i="0" dirty="0">
                <a:effectLst/>
                <a:latin typeface="Google Sans"/>
              </a:rPr>
              <a:t>Develop discipline : </a:t>
            </a:r>
            <a:r>
              <a:rPr lang="en-US" b="0" i="0" dirty="0">
                <a:effectLst/>
                <a:latin typeface="Google Sans"/>
              </a:rPr>
              <a:t>Managing expenses requires discipline and mindful spending, which are valuable habits for long-term financial success. </a:t>
            </a:r>
          </a:p>
          <a:p>
            <a:r>
              <a:rPr lang="en-US" b="1" i="0" dirty="0">
                <a:effectLst/>
                <a:latin typeface="Google Sans"/>
              </a:rPr>
              <a:t>Prioritize spending : </a:t>
            </a:r>
            <a:r>
              <a:rPr lang="en-US" b="0" i="0" dirty="0">
                <a:effectLst/>
                <a:latin typeface="Google Sans"/>
              </a:rPr>
              <a:t>You learn to differentiate between your needs and wants, making conscious decisions about where your money goes based on your values and goals. </a:t>
            </a:r>
          </a:p>
          <a:p>
            <a:endParaRPr lang="en-US" b="0" i="0" dirty="0">
              <a:effectLst/>
              <a:latin typeface="Google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8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F5DAB6-4181-4FE3-BB33-20E6F6FB5215}"/>
              </a:ext>
            </a:extLst>
          </p:cNvPr>
          <p:cNvSpPr txBox="1"/>
          <p:nvPr/>
        </p:nvSpPr>
        <p:spPr>
          <a:xfrm>
            <a:off x="2243418" y="890697"/>
            <a:ext cx="680197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3200" u="sng" dirty="0"/>
              <a:t>Group</a:t>
            </a:r>
            <a:r>
              <a:rPr lang="en-IN" sz="3200" b="1" u="sng" dirty="0"/>
              <a:t> </a:t>
            </a:r>
            <a:r>
              <a:rPr lang="en-IN" sz="3200" u="sng" dirty="0"/>
              <a:t>Name:</a:t>
            </a:r>
            <a:r>
              <a:rPr lang="en-IN" sz="3200" dirty="0"/>
              <a:t>- </a:t>
            </a:r>
            <a:r>
              <a:rPr lang="en-IN" sz="3200" b="1" dirty="0">
                <a:solidFill>
                  <a:srgbClr val="FF0000"/>
                </a:solidFill>
                <a:latin typeface="+mj-lt"/>
              </a:rPr>
              <a:t>Cash Crafters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3200" u="sng" dirty="0"/>
              <a:t>Group Members:</a:t>
            </a:r>
            <a:r>
              <a:rPr lang="en-IN" sz="3200" dirty="0"/>
              <a:t>-</a:t>
            </a:r>
          </a:p>
          <a:p>
            <a:endParaRPr lang="en-IN" dirty="0"/>
          </a:p>
          <a:p>
            <a:r>
              <a:rPr lang="en-IN" sz="2400" dirty="0"/>
              <a:t>*</a:t>
            </a:r>
            <a:r>
              <a:rPr lang="en-IN" sz="2400" dirty="0">
                <a:solidFill>
                  <a:srgbClr val="FF0000"/>
                </a:solidFill>
              </a:rPr>
              <a:t>ANANYA ANIL-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25BAS10046</a:t>
            </a:r>
          </a:p>
          <a:p>
            <a:r>
              <a:rPr lang="en-IN" sz="2400" dirty="0"/>
              <a:t>*</a:t>
            </a:r>
            <a:r>
              <a:rPr lang="en-IN" sz="2400" dirty="0">
                <a:solidFill>
                  <a:srgbClr val="FF0000"/>
                </a:solidFill>
              </a:rPr>
              <a:t>BHUMIKA GAUTAM-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25BCE10831</a:t>
            </a:r>
          </a:p>
          <a:p>
            <a:r>
              <a:rPr lang="en-IN" sz="2400" dirty="0"/>
              <a:t>*</a:t>
            </a:r>
            <a:r>
              <a:rPr lang="en-IN" sz="2400" dirty="0">
                <a:solidFill>
                  <a:srgbClr val="FF0000"/>
                </a:solidFill>
              </a:rPr>
              <a:t>RIYA GUPTA-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25BET10051</a:t>
            </a:r>
          </a:p>
          <a:p>
            <a:r>
              <a:rPr lang="en-IN" sz="2400" dirty="0"/>
              <a:t>*</a:t>
            </a:r>
            <a:r>
              <a:rPr lang="en-IN" sz="2400" dirty="0">
                <a:solidFill>
                  <a:srgbClr val="FF0000"/>
                </a:solidFill>
              </a:rPr>
              <a:t>SUKRITI JAISWAL-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25MIM10060</a:t>
            </a:r>
          </a:p>
          <a:p>
            <a:r>
              <a:rPr lang="en-IN" sz="2400" dirty="0"/>
              <a:t>*</a:t>
            </a:r>
            <a:r>
              <a:rPr lang="en-IN" sz="2400" dirty="0">
                <a:solidFill>
                  <a:srgbClr val="FF0000"/>
                </a:solidFill>
              </a:rPr>
              <a:t>SAIYAM JAIN-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25BAI10938</a:t>
            </a:r>
          </a:p>
        </p:txBody>
      </p:sp>
    </p:spTree>
    <p:extLst>
      <p:ext uri="{BB962C8B-B14F-4D97-AF65-F5344CB8AC3E}">
        <p14:creationId xmlns:p14="http://schemas.microsoft.com/office/powerpoint/2010/main" val="137548384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41727D-275D-429B-A57D-6901C9633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52" y="466166"/>
            <a:ext cx="8222895" cy="467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508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03906B-A071-44E1-A797-5F01D5F74E62}"/>
              </a:ext>
            </a:extLst>
          </p:cNvPr>
          <p:cNvSpPr txBox="1"/>
          <p:nvPr/>
        </p:nvSpPr>
        <p:spPr>
          <a:xfrm>
            <a:off x="907676" y="236675"/>
            <a:ext cx="976032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What are we up to!!!!!!!!</a:t>
            </a:r>
          </a:p>
          <a:p>
            <a:endParaRPr lang="en-IN" dirty="0"/>
          </a:p>
          <a:p>
            <a:endParaRPr lang="en-IN" dirty="0"/>
          </a:p>
          <a:p>
            <a:pPr marL="342900" indent="-342900">
              <a:buAutoNum type="arabicParenR"/>
            </a:pPr>
            <a:r>
              <a:rPr lang="en-IN" sz="2400" dirty="0"/>
              <a:t>We are going to use MySQL(Structured Query Language) for storing the data and Python for programming.</a:t>
            </a:r>
          </a:p>
          <a:p>
            <a:pPr marL="342900" indent="-342900">
              <a:buAutoNum type="arabicParenR"/>
            </a:pPr>
            <a:r>
              <a:rPr lang="en-IN" sz="2400" dirty="0"/>
              <a:t>First we created a database and then created required tables for storing the data in MySQL.</a:t>
            </a:r>
          </a:p>
          <a:p>
            <a:pPr marL="342900" indent="-342900">
              <a:buAutoNum type="arabicParenR"/>
            </a:pPr>
            <a:r>
              <a:rPr lang="en-IN" sz="2400" dirty="0"/>
              <a:t>We will store all the data in it which we have gathered. Data will be collected from internet, articles, newspapers etc.</a:t>
            </a:r>
          </a:p>
          <a:p>
            <a:pPr marL="342900" indent="-342900">
              <a:buAutoNum type="arabicParenR"/>
            </a:pPr>
            <a:r>
              <a:rPr lang="en-IN" sz="2400" dirty="0"/>
              <a:t>We will then write python programs to do the required task as mentioned.</a:t>
            </a:r>
          </a:p>
          <a:p>
            <a:pPr marL="342900" indent="-342900">
              <a:buAutoNum type="arabicParenR"/>
            </a:pPr>
            <a:r>
              <a:rPr lang="en-IN" sz="2400" dirty="0"/>
              <a:t>Establish connection between MySQL and Python. Then do the necessary updates.</a:t>
            </a:r>
            <a:endParaRPr lang="en-IN" dirty="0"/>
          </a:p>
          <a:p>
            <a:pPr marL="342900" indent="-342900">
              <a:buAutoNum type="arabicParenR"/>
            </a:pPr>
            <a:endParaRPr lang="en-IN" dirty="0"/>
          </a:p>
          <a:p>
            <a:pPr marL="342900" indent="-342900"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90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B75EE-31C6-48A7-BE4D-CBAA129079E8}"/>
              </a:ext>
            </a:extLst>
          </p:cNvPr>
          <p:cNvSpPr txBox="1"/>
          <p:nvPr/>
        </p:nvSpPr>
        <p:spPr>
          <a:xfrm>
            <a:off x="342900" y="3084474"/>
            <a:ext cx="6100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/>
              <a:t>It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758F9-6825-410F-89D9-5B1D5F87D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" t="17183" r="-176" b="6568"/>
          <a:stretch/>
        </p:blipFill>
        <p:spPr>
          <a:xfrm>
            <a:off x="133705" y="3915471"/>
            <a:ext cx="7059010" cy="21718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608A0-06A4-48F3-BE93-72030CE7EC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77" b="5100"/>
          <a:stretch/>
        </p:blipFill>
        <p:spPr>
          <a:xfrm>
            <a:off x="7192715" y="3915471"/>
            <a:ext cx="3798530" cy="21718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A1698F-EC87-46E0-8CC4-28F72B131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4" y="650262"/>
            <a:ext cx="9888569" cy="3200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85790C-27F2-4B7C-9056-E327E4510D72}"/>
              </a:ext>
            </a:extLst>
          </p:cNvPr>
          <p:cNvSpPr txBox="1"/>
          <p:nvPr/>
        </p:nvSpPr>
        <p:spPr>
          <a:xfrm>
            <a:off x="133704" y="63998"/>
            <a:ext cx="10148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It is a sample code and its output done in MySQL for displaying the stored data.  </a:t>
            </a:r>
          </a:p>
        </p:txBody>
      </p:sp>
    </p:spTree>
    <p:extLst>
      <p:ext uri="{BB962C8B-B14F-4D97-AF65-F5344CB8AC3E}">
        <p14:creationId xmlns:p14="http://schemas.microsoft.com/office/powerpoint/2010/main" val="395709444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8C2D5-6482-47E4-9D2E-A60E9D49E737}"/>
              </a:ext>
            </a:extLst>
          </p:cNvPr>
          <p:cNvSpPr txBox="1"/>
          <p:nvPr/>
        </p:nvSpPr>
        <p:spPr>
          <a:xfrm>
            <a:off x="898712" y="259541"/>
            <a:ext cx="10199594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/>
              <a:t>Project Features </a:t>
            </a:r>
          </a:p>
          <a:p>
            <a:endParaRPr lang="en-US" sz="1800" dirty="0"/>
          </a:p>
          <a:p>
            <a:r>
              <a:rPr lang="en-US" sz="2000" dirty="0"/>
              <a:t> Add, update, delete income/expense</a:t>
            </a:r>
          </a:p>
          <a:p>
            <a:r>
              <a:rPr lang="en-US" sz="2000" dirty="0"/>
              <a:t> Categorization</a:t>
            </a:r>
          </a:p>
          <a:p>
            <a:r>
              <a:rPr lang="en-US" sz="2000" dirty="0"/>
              <a:t> View summaries and reports</a:t>
            </a:r>
          </a:p>
          <a:p>
            <a:r>
              <a:rPr lang="en-US" sz="2000" dirty="0"/>
              <a:t> Data storage</a:t>
            </a:r>
          </a:p>
          <a:p>
            <a:r>
              <a:rPr lang="en-US" sz="2000" dirty="0"/>
              <a:t> Search option</a:t>
            </a:r>
            <a:r>
              <a:rPr lang="en-IN" sz="2000" dirty="0"/>
              <a:t> </a:t>
            </a:r>
          </a:p>
          <a:p>
            <a:endParaRPr lang="en-IN" sz="2000" dirty="0"/>
          </a:p>
          <a:p>
            <a:r>
              <a:rPr lang="en-IN" sz="2000" b="1" u="sng" dirty="0"/>
              <a:t>#Features which are completed:</a:t>
            </a:r>
          </a:p>
          <a:p>
            <a:r>
              <a:rPr lang="en-IN" sz="2000" dirty="0"/>
              <a:t>1)   Categorization of income and expenses.</a:t>
            </a:r>
          </a:p>
          <a:p>
            <a:r>
              <a:rPr lang="en-IN" sz="2000" b="1" u="sng" dirty="0"/>
              <a:t>#Features which are in progress:</a:t>
            </a:r>
          </a:p>
          <a:p>
            <a:r>
              <a:rPr lang="en-IN" sz="2000" dirty="0"/>
              <a:t>1)   Data collection and storing process in MySQL.</a:t>
            </a:r>
          </a:p>
          <a:p>
            <a:r>
              <a:rPr lang="en-IN" sz="2000" b="1" u="sng" dirty="0"/>
              <a:t>#Features which are yet to start:</a:t>
            </a:r>
          </a:p>
          <a:p>
            <a:pPr marL="457200" indent="-457200">
              <a:buAutoNum type="arabicParenR"/>
            </a:pPr>
            <a:r>
              <a:rPr lang="en-US" sz="2000" dirty="0"/>
              <a:t>Add, update, delete income/expense</a:t>
            </a:r>
          </a:p>
          <a:p>
            <a:pPr marL="457200" indent="-457200">
              <a:buAutoNum type="arabicParenR"/>
            </a:pPr>
            <a:r>
              <a:rPr lang="en-US" sz="2000" dirty="0"/>
              <a:t>View summaries and reports</a:t>
            </a:r>
          </a:p>
          <a:p>
            <a:pPr marL="457200" indent="-457200">
              <a:buAutoNum type="arabicParenR"/>
            </a:pPr>
            <a:r>
              <a:rPr lang="en-US" sz="2000" dirty="0"/>
              <a:t>Search option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4104500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A02415-63CE-465A-9AA8-505B5BDD9ED1}"/>
              </a:ext>
            </a:extLst>
          </p:cNvPr>
          <p:cNvSpPr txBox="1"/>
          <p:nvPr/>
        </p:nvSpPr>
        <p:spPr>
          <a:xfrm>
            <a:off x="584946" y="260448"/>
            <a:ext cx="739364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Technologies Used</a:t>
            </a:r>
          </a:p>
          <a:p>
            <a:endParaRPr lang="en-IN" dirty="0"/>
          </a:p>
          <a:p>
            <a:r>
              <a:rPr lang="en-IN" sz="2400" dirty="0"/>
              <a:t> Programming language –Python </a:t>
            </a:r>
          </a:p>
          <a:p>
            <a:r>
              <a:rPr lang="en-IN" sz="2400" dirty="0"/>
              <a:t> File/database usage-MySQL</a:t>
            </a:r>
          </a:p>
          <a:p>
            <a:r>
              <a:rPr lang="en-IN" sz="2400" dirty="0"/>
              <a:t> UI type –Web</a:t>
            </a:r>
          </a:p>
          <a:p>
            <a:endParaRPr lang="en-IN" sz="2000" dirty="0"/>
          </a:p>
          <a:p>
            <a:endParaRPr lang="en-IN" sz="2400" b="1" u="sng" dirty="0"/>
          </a:p>
          <a:p>
            <a:r>
              <a:rPr lang="en-IN" sz="2800" b="1" u="sng" dirty="0"/>
              <a:t>Current Progress</a:t>
            </a:r>
          </a:p>
          <a:p>
            <a:endParaRPr lang="en-IN" sz="2000" dirty="0"/>
          </a:p>
          <a:p>
            <a:r>
              <a:rPr lang="en-IN" sz="2400" dirty="0"/>
              <a:t>1)Learning process of using MySQL efficiently is going on.</a:t>
            </a:r>
          </a:p>
          <a:p>
            <a:r>
              <a:rPr lang="en-IN" sz="2400" dirty="0"/>
              <a:t>2)Collection of data.</a:t>
            </a:r>
          </a:p>
          <a:p>
            <a:r>
              <a:rPr lang="en-IN" sz="2400" dirty="0"/>
              <a:t>3)Collected data is being stored in MySQL.</a:t>
            </a:r>
          </a:p>
          <a:p>
            <a:r>
              <a:rPr lang="en-IN" sz="2400" dirty="0"/>
              <a:t>4)Checking other possibilities of categorization.</a:t>
            </a:r>
          </a:p>
        </p:txBody>
      </p:sp>
    </p:spTree>
    <p:extLst>
      <p:ext uri="{BB962C8B-B14F-4D97-AF65-F5344CB8AC3E}">
        <p14:creationId xmlns:p14="http://schemas.microsoft.com/office/powerpoint/2010/main" val="190953301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E2CDE-2602-4821-B918-D2BABC516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60" t="5944" r="9875" b="18162"/>
          <a:stretch/>
        </p:blipFill>
        <p:spPr>
          <a:xfrm>
            <a:off x="567018" y="376517"/>
            <a:ext cx="6843637" cy="2936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570381-A5BA-4813-B5DB-30047DE11E20}"/>
              </a:ext>
            </a:extLst>
          </p:cNvPr>
          <p:cNvSpPr txBox="1"/>
          <p:nvPr/>
        </p:nvSpPr>
        <p:spPr>
          <a:xfrm>
            <a:off x="459441" y="0"/>
            <a:ext cx="6100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u="sng" dirty="0"/>
              <a:t>Screenshots of UI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8732C-E4F0-487D-8657-F2CA9501C0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39" t="8124" r="9916" b="6460"/>
          <a:stretch/>
        </p:blipFill>
        <p:spPr>
          <a:xfrm>
            <a:off x="567017" y="3313387"/>
            <a:ext cx="6843637" cy="271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8347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CBB44-AB85-4411-AB2A-7C7D73C9DD59}"/>
              </a:ext>
            </a:extLst>
          </p:cNvPr>
          <p:cNvSpPr txBox="1"/>
          <p:nvPr/>
        </p:nvSpPr>
        <p:spPr>
          <a:xfrm>
            <a:off x="2162736" y="147027"/>
            <a:ext cx="639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chemeClr val="accent1">
                    <a:lumMod val="75000"/>
                  </a:schemeClr>
                </a:solidFill>
                <a:latin typeface="Arial Rounded MT Bold" pitchFamily="34" charset="0"/>
              </a:rPr>
              <a:t>CHALLENGES FACED</a:t>
            </a:r>
            <a:endParaRPr lang="en-IN" sz="36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AE61-3698-4C84-BE81-4254D9BD71CB}"/>
              </a:ext>
            </a:extLst>
          </p:cNvPr>
          <p:cNvSpPr txBox="1"/>
          <p:nvPr/>
        </p:nvSpPr>
        <p:spPr>
          <a:xfrm>
            <a:off x="1060077" y="1071007"/>
            <a:ext cx="8397688" cy="592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Technical Problems: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Issues with data storage and file handling.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Sometimes the code didn’t work properly when we ran it.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Fixing these technical issues took some time and testing.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Database or File Handling Difficulty: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We used a MySQL file to store data. </a:t>
            </a:r>
            <a:r>
              <a:rPr lang="en-IN" sz="2000" b="1" dirty="0">
                <a:solidFill>
                  <a:prstClr val="black"/>
                </a:solidFill>
                <a:latin typeface="Perpetua"/>
              </a:rPr>
              <a:t>W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e faced problem in  setting up and downloading MySQL 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lang="en-IN" sz="2000" b="1" dirty="0">
                <a:solidFill>
                  <a:prstClr val="black"/>
                </a:solidFill>
                <a:latin typeface="Perpetua"/>
              </a:rPr>
              <a:t>I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t was </a:t>
            </a:r>
            <a:r>
              <a:rPr lang="en-IN" sz="2000" b="1" dirty="0">
                <a:solidFill>
                  <a:prstClr val="black"/>
                </a:solidFill>
                <a:latin typeface="Perpetua"/>
              </a:rPr>
              <a:t>really difficult to write the codes and it’s execution.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Team Coordination Challenges: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It was </a:t>
            </a:r>
            <a:r>
              <a:rPr lang="en-IN" sz="2000" b="1" dirty="0">
                <a:solidFill>
                  <a:prstClr val="black"/>
                </a:solidFill>
                <a:latin typeface="Perpetua"/>
              </a:rPr>
              <a:t>really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hard to combine everyone’s </a:t>
            </a:r>
            <a:r>
              <a:rPr lang="en-IN" sz="2000" b="1" dirty="0">
                <a:solidFill>
                  <a:prstClr val="black"/>
                </a:solidFill>
                <a:latin typeface="Perpetua"/>
              </a:rPr>
              <a:t>work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into one.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We had to communicate and test together to make sure everything </a:t>
            </a:r>
            <a:r>
              <a:rPr lang="en-IN" sz="2000" b="1" dirty="0">
                <a:solidFill>
                  <a:prstClr val="black"/>
                </a:solidFill>
                <a:latin typeface="Perpetua"/>
              </a:rPr>
              <a:t>is working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smoothly.</a:t>
            </a:r>
            <a:b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</a:b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60080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</TotalTime>
  <Words>659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Arial</vt:lpstr>
      <vt:lpstr>Arial Rounded MT Bold</vt:lpstr>
      <vt:lpstr>Bahnschrift SemiBold</vt:lpstr>
      <vt:lpstr>Gill Sans MT</vt:lpstr>
      <vt:lpstr>Google Sans</vt:lpstr>
      <vt:lpstr>Perpetua</vt:lpstr>
      <vt:lpstr>Wingdings 2</vt:lpstr>
      <vt:lpstr>Gallery</vt:lpstr>
      <vt:lpstr>Financial (Expense) Management Application</vt:lpstr>
      <vt:lpstr>Why do we need to manage our finance expenses?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(Expense) Management Application</dc:title>
  <dc:creator>Ananya Anil</dc:creator>
  <cp:lastModifiedBy>Ananya Anil</cp:lastModifiedBy>
  <cp:revision>35</cp:revision>
  <dcterms:created xsi:type="dcterms:W3CDTF">2025-09-28T16:37:47Z</dcterms:created>
  <dcterms:modified xsi:type="dcterms:W3CDTF">2025-11-16T18:40:54Z</dcterms:modified>
</cp:coreProperties>
</file>